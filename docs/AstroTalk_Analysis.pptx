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Revenue Growth (₹ Crore)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5B2D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68</c:v>
                </c:pt>
                <c:pt idx="2">
                  <c:v>283</c:v>
                </c:pt>
                <c:pt idx="3">
                  <c:v>659</c:v>
                </c:pt>
                <c:pt idx="4">
                  <c:v>1210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Profit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(₹ Cr)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FY21</c:v>
                  </c:pt>
                  <c:pt idx="1">
                    <c:v>FY22</c:v>
                  </c:pt>
                  <c:pt idx="2">
                    <c:v>FY23</c:v>
                  </c:pt>
                  <c:pt idx="3">
                    <c:v>FY24</c:v>
                  </c:pt>
                  <c:pt idx="4">
                    <c:v>FY25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6</c:v>
                </c:pt>
                <c:pt idx="2">
                  <c:v>27</c:v>
                </c:pt>
                <c:pt idx="3">
                  <c:v>100</c:v>
                </c:pt>
                <c:pt idx="4">
                  <c:v>250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44257" y="1918596"/>
            <a:ext cx="65247" cy="65247"/>
          </a:xfrm>
          <a:prstGeom prst="ellipse">
            <a:avLst/>
          </a:prstGeom>
          <a:solidFill>
            <a:srgbClr val="FCD34D">
              <a:alpha val="56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62899" y="888379"/>
            <a:ext cx="30544" cy="30544"/>
          </a:xfrm>
          <a:prstGeom prst="ellipse">
            <a:avLst/>
          </a:prstGeom>
          <a:solidFill>
            <a:srgbClr val="FCD34D">
              <a:alpha val="7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3057" y="2099268"/>
            <a:ext cx="59463" cy="59463"/>
          </a:xfrm>
          <a:prstGeom prst="ellipse">
            <a:avLst/>
          </a:prstGeom>
          <a:solidFill>
            <a:srgbClr val="FCD34D">
              <a:alpha val="91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98765" y="695030"/>
            <a:ext cx="70857" cy="70857"/>
          </a:xfrm>
          <a:prstGeom prst="ellipse">
            <a:avLst/>
          </a:prstGeom>
          <a:solidFill>
            <a:srgbClr val="FCD34D">
              <a:alpha val="8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56115" y="5051658"/>
            <a:ext cx="51249" cy="51249"/>
          </a:xfrm>
          <a:prstGeom prst="ellipse">
            <a:avLst/>
          </a:prstGeom>
          <a:solidFill>
            <a:srgbClr val="FCD34D">
              <a:alpha val="5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08163" y="293482"/>
            <a:ext cx="59595" cy="59595"/>
          </a:xfrm>
          <a:prstGeom prst="ellipse">
            <a:avLst/>
          </a:prstGeom>
          <a:solidFill>
            <a:srgbClr val="FCD34D">
              <a:alpha val="6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63171" y="1162290"/>
            <a:ext cx="67787" cy="67787"/>
          </a:xfrm>
          <a:prstGeom prst="ellipse">
            <a:avLst/>
          </a:prstGeom>
          <a:solidFill>
            <a:srgbClr val="FCD34D">
              <a:alpha val="9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2716" y="2192749"/>
            <a:ext cx="65238" cy="65238"/>
          </a:xfrm>
          <a:prstGeom prst="ellipse">
            <a:avLst/>
          </a:prstGeom>
          <a:solidFill>
            <a:srgbClr val="FCD34D">
              <a:alpha val="9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5100" y="834844"/>
            <a:ext cx="59429" cy="59429"/>
          </a:xfrm>
          <a:prstGeom prst="ellipse">
            <a:avLst/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05" y="124545"/>
            <a:ext cx="69921" cy="69921"/>
          </a:xfrm>
          <a:prstGeom prst="ellipse">
            <a:avLst/>
          </a:prstGeom>
          <a:solidFill>
            <a:srgbClr val="FCD34D">
              <a:alpha val="9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68204" y="1471666"/>
            <a:ext cx="43517" cy="43517"/>
          </a:xfrm>
          <a:prstGeom prst="ellipse">
            <a:avLst/>
          </a:prstGeom>
          <a:solidFill>
            <a:srgbClr val="FCD34D">
              <a:alpha val="8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36695" y="432848"/>
            <a:ext cx="46908" cy="46908"/>
          </a:xfrm>
          <a:prstGeom prst="ellipse">
            <a:avLst/>
          </a:prstGeom>
          <a:solidFill>
            <a:srgbClr val="FCD34D">
              <a:alpha val="7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41611" y="1349883"/>
            <a:ext cx="54898" cy="54898"/>
          </a:xfrm>
          <a:prstGeom prst="ellipse">
            <a:avLst/>
          </a:prstGeom>
          <a:solidFill>
            <a:srgbClr val="FCD34D">
              <a:alpha val="76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7806" y="1255165"/>
            <a:ext cx="25902" cy="25902"/>
          </a:xfrm>
          <a:prstGeom prst="ellipse">
            <a:avLst/>
          </a:prstGeom>
          <a:solidFill>
            <a:srgbClr val="FCD34D">
              <a:alpha val="81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46787" y="3148835"/>
            <a:ext cx="70389" cy="70389"/>
          </a:xfrm>
          <a:prstGeom prst="ellipse">
            <a:avLst/>
          </a:prstGeom>
          <a:solidFill>
            <a:srgbClr val="FCD34D">
              <a:alpha val="9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09540" y="1945147"/>
            <a:ext cx="57412" cy="57412"/>
          </a:xfrm>
          <a:prstGeom prst="ellipse">
            <a:avLst/>
          </a:prstGeom>
          <a:solidFill>
            <a:srgbClr val="FCD34D">
              <a:alpha val="5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8654" y="4987729"/>
            <a:ext cx="31123" cy="31123"/>
          </a:xfrm>
          <a:prstGeom prst="ellipse">
            <a:avLst/>
          </a:prstGeom>
          <a:solidFill>
            <a:srgbClr val="FCD34D">
              <a:alpha val="8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96805" y="4003102"/>
            <a:ext cx="62032" cy="62032"/>
          </a:xfrm>
          <a:prstGeom prst="ellipse">
            <a:avLst/>
          </a:prstGeom>
          <a:solidFill>
            <a:srgbClr val="FCD34D">
              <a:alpha val="5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07985" y="4867406"/>
            <a:ext cx="62985" cy="62985"/>
          </a:xfrm>
          <a:prstGeom prst="ellipse">
            <a:avLst/>
          </a:prstGeom>
          <a:solidFill>
            <a:srgbClr val="FCD34D">
              <a:alpha val="7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0391" y="3970648"/>
            <a:ext cx="64340" cy="64340"/>
          </a:xfrm>
          <a:prstGeom prst="ellipse">
            <a:avLst/>
          </a:prstGeom>
          <a:solidFill>
            <a:srgbClr val="FCD34D">
              <a:alpha val="9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56850" y="3983330"/>
            <a:ext cx="56334" cy="56334"/>
          </a:xfrm>
          <a:prstGeom prst="ellipse">
            <a:avLst/>
          </a:prstGeom>
          <a:solidFill>
            <a:srgbClr val="FCD34D">
              <a:alpha val="6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8352" y="3110800"/>
            <a:ext cx="31351" cy="31351"/>
          </a:xfrm>
          <a:prstGeom prst="ellipse">
            <a:avLst/>
          </a:prstGeom>
          <a:solidFill>
            <a:srgbClr val="FCD34D">
              <a:alpha val="6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852" y="4791463"/>
            <a:ext cx="30884" cy="30884"/>
          </a:xfrm>
          <a:prstGeom prst="ellipse">
            <a:avLst/>
          </a:prstGeom>
          <a:solidFill>
            <a:srgbClr val="FCD34D">
              <a:alpha val="9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40613" y="2677273"/>
            <a:ext cx="34194" cy="34194"/>
          </a:xfrm>
          <a:prstGeom prst="ellipse">
            <a:avLst/>
          </a:prstGeom>
          <a:solidFill>
            <a:srgbClr val="FCD34D">
              <a:alpha val="6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79483" y="2569949"/>
            <a:ext cx="67157" cy="67157"/>
          </a:xfrm>
          <a:prstGeom prst="ellipse">
            <a:avLst/>
          </a:prstGeom>
          <a:solidFill>
            <a:srgbClr val="FCD34D">
              <a:alpha val="9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55045" y="3833423"/>
            <a:ext cx="46799" cy="46799"/>
          </a:xfrm>
          <a:prstGeom prst="ellipse">
            <a:avLst/>
          </a:prstGeom>
          <a:solidFill>
            <a:srgbClr val="FCD34D">
              <a:alpha val="6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5451" y="2490106"/>
            <a:ext cx="38975" cy="38975"/>
          </a:xfrm>
          <a:prstGeom prst="ellipse">
            <a:avLst/>
          </a:prstGeom>
          <a:solidFill>
            <a:srgbClr val="FCD34D">
              <a:alpha val="7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873" y="1731570"/>
            <a:ext cx="32651" cy="32651"/>
          </a:xfrm>
          <a:prstGeom prst="ellipse">
            <a:avLst/>
          </a:prstGeom>
          <a:solidFill>
            <a:srgbClr val="FCD34D">
              <a:alpha val="4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3759" y="2992609"/>
            <a:ext cx="31965" cy="31965"/>
          </a:xfrm>
          <a:prstGeom prst="ellipse">
            <a:avLst/>
          </a:prstGeom>
          <a:solidFill>
            <a:srgbClr val="FCD34D">
              <a:alpha val="46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17757" y="760604"/>
            <a:ext cx="43232" cy="43232"/>
          </a:xfrm>
          <a:prstGeom prst="ellipse">
            <a:avLst/>
          </a:prstGeom>
          <a:solidFill>
            <a:srgbClr val="FCD34D">
              <a:alpha val="9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494" y="4731600"/>
            <a:ext cx="31582" cy="31582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44023" y="2594226"/>
            <a:ext cx="69442" cy="69442"/>
          </a:xfrm>
          <a:prstGeom prst="ellipse">
            <a:avLst/>
          </a:prstGeom>
          <a:solidFill>
            <a:srgbClr val="FCD34D">
              <a:alpha val="8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9934" y="4341661"/>
            <a:ext cx="29378" cy="29378"/>
          </a:xfrm>
          <a:prstGeom prst="ellipse">
            <a:avLst/>
          </a:prstGeom>
          <a:solidFill>
            <a:srgbClr val="FCD34D">
              <a:alpha val="9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13405" y="3851752"/>
            <a:ext cx="50240" cy="50240"/>
          </a:xfrm>
          <a:prstGeom prst="ellipse">
            <a:avLst/>
          </a:prstGeom>
          <a:solidFill>
            <a:srgbClr val="FCD34D">
              <a:alpha val="8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744087" y="4673283"/>
            <a:ext cx="49634" cy="49634"/>
          </a:xfrm>
          <a:prstGeom prst="ellipse">
            <a:avLst/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8579" y="3515729"/>
            <a:ext cx="27854" cy="27854"/>
          </a:xfrm>
          <a:prstGeom prst="ellipse">
            <a:avLst/>
          </a:prstGeom>
          <a:solidFill>
            <a:srgbClr val="FCD34D">
              <a:alpha val="8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61910" y="1257302"/>
            <a:ext cx="37066" cy="37066"/>
          </a:xfrm>
          <a:prstGeom prst="ellipse">
            <a:avLst/>
          </a:prstGeom>
          <a:solidFill>
            <a:srgbClr val="FCD34D">
              <a:alpha val="96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344746" y="537604"/>
            <a:ext cx="62103" cy="62103"/>
          </a:xfrm>
          <a:prstGeom prst="ellipse">
            <a:avLst/>
          </a:prstGeom>
          <a:solidFill>
            <a:srgbClr val="FCD34D">
              <a:alpha val="5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01208" y="1522662"/>
            <a:ext cx="30044" cy="30044"/>
          </a:xfrm>
          <a:prstGeom prst="ellipse">
            <a:avLst/>
          </a:prstGeom>
          <a:solidFill>
            <a:srgbClr val="FCD34D">
              <a:alpha val="9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022706" y="1728749"/>
            <a:ext cx="61838" cy="61838"/>
          </a:xfrm>
          <a:prstGeom prst="ellipse">
            <a:avLst/>
          </a:prstGeom>
          <a:solidFill>
            <a:srgbClr val="FCD34D">
              <a:alpha val="83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solidFill>
            <a:srgbClr val="5B2D8E">
              <a:alpha val="80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10515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</a:t>
            </a:r>
            <a:endParaRPr lang="en-US" sz="6400" dirty="0"/>
          </a:p>
        </p:txBody>
      </p:sp>
      <p:sp>
        <p:nvSpPr>
          <p:cNvPr id="45" name="Shape 43"/>
          <p:cNvSpPr/>
          <p:nvPr/>
        </p:nvSpPr>
        <p:spPr>
          <a:xfrm>
            <a:off x="2743200" y="2606040"/>
            <a:ext cx="3657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Leading Spiritual-Tech Platform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Deep-Dive | Tara Infotech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457200" y="3931920"/>
            <a:ext cx="1828800" cy="868680"/>
          </a:xfrm>
          <a:prstGeom prst="rect">
            <a:avLst/>
          </a:prstGeom>
          <a:solidFill>
            <a:srgbClr val="5B2D8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5720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₹1,210 Cr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45720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FY25 Revenue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514600" y="3931920"/>
            <a:ext cx="1828800" cy="868680"/>
          </a:xfrm>
          <a:prstGeom prst="rect">
            <a:avLst/>
          </a:prstGeom>
          <a:solidFill>
            <a:srgbClr val="5B2D8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51460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50M+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251460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3931920"/>
            <a:ext cx="1828800" cy="868680"/>
          </a:xfrm>
          <a:prstGeom prst="rect">
            <a:avLst/>
          </a:prstGeom>
          <a:solidFill>
            <a:srgbClr val="5B2D8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57200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45K+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457200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Astrologers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29400" y="3931920"/>
            <a:ext cx="1828800" cy="868680"/>
          </a:xfrm>
          <a:prstGeom prst="rect">
            <a:avLst/>
          </a:prstGeom>
          <a:solidFill>
            <a:srgbClr val="5B2D8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62940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6629400" y="43708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91440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 &amp; Founding Story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87452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 &amp; How It Works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83464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 &amp; Financial Performance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9476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79476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&amp; Marketing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37760" y="91440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91440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914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91440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937760" y="18745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187452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874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187452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Plans &amp; IPO Roadmap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28346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2834640"/>
            <a:ext cx="502920" cy="7772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28346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2834640"/>
            <a:ext cx="361188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SWOT Analysis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COMPANY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3474720"/>
          </a:xfrm>
          <a:prstGeom prst="rect">
            <a:avLst/>
          </a:prstGeom>
          <a:solidFill>
            <a:srgbClr val="2A1D4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601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AstroTalk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3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AstroTalk is India's #1 online astrology and spiritual-tech platform, founded in Noida on October 18, 2017. It operates as a two-sided marketplace connecting users with verified astrologers for consultations via chat, voice, and video calls.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3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offers Vedic astrology, tarot reading, numerology, Vastu, Kundli matching, palmistry, and more — available 24/7 across 60+ countries.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68680"/>
            <a:ext cx="4297680" cy="438912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86868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Founded: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86868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October 18, 2017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297680" cy="438912"/>
          </a:xfrm>
          <a:prstGeom prst="rect">
            <a:avLst/>
          </a:prstGeom>
          <a:solidFill>
            <a:srgbClr val="1A10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7160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HQ: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Noida, India (Sector 16)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4297680" cy="438912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87452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Founders: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Puneet Gupta (CEO) &amp; Anmol Jain (CBO)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377440"/>
            <a:ext cx="4297680" cy="438912"/>
          </a:xfrm>
          <a:prstGeom prst="rect">
            <a:avLst/>
          </a:prstGeom>
          <a:solidFill>
            <a:srgbClr val="1A10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37744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Employees: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2,223+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880360"/>
            <a:ext cx="4297680" cy="438912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88036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Legal Entity: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88036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AstroTalk Services Pvt. Ltd.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383280"/>
            <a:ext cx="4297680" cy="438912"/>
          </a:xfrm>
          <a:prstGeom prst="rect">
            <a:avLst/>
          </a:prstGeom>
          <a:solidFill>
            <a:srgbClr val="1A103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38328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Total Funding: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26480" y="338328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$30.3M (3 rounds)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886200"/>
            <a:ext cx="4297680" cy="438912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886200"/>
            <a:ext cx="1463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Valuation: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0" y="3886200"/>
            <a:ext cx="265176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~$300M (2024) → Targeting $1.3–1.5B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5720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Market context: Indian astrology market valued at $58.56Bn (2023), growing at 10% CAGR to ~$150Bn by 2032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FOUNDING STORY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5B2D8E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86868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</a:rPr>
              <a:t>"I was a complete skeptic about astrology. Then a friend insisted I meet an astrologer — and the accuracy shocked me. I realized there was a huge, underserved market with a trust problem."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9E0B"/>
                </a:solidFill>
              </a:rPr>
              <a:t>— Puneet Gupta, Co-Founder &amp; CEO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574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26517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2017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" y="244144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Founded with 1 astrologer. Built 5-step astrologer verification. Launched as video platform.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20574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057400"/>
            <a:ext cx="26517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2020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73552" y="244144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COVID-19 tailwinds. Pivoted from video to audio calls (privacy concern). User base: 400K.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2057400"/>
            <a:ext cx="26517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057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2021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08192" y="244144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Seed funding $800K from QED Innovation Labs. Launched 'First Chat Free' freemium model.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29000"/>
            <a:ext cx="26517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29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2023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38912" y="381304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Revenue: ₹282 Cr. IPO announcement. 30M+ users, 8M in India alone.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34290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429000"/>
            <a:ext cx="26517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429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2024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273552" y="381304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Series A: $29.5M. Revenue: ₹659 Cr. Profit: ₹100 Cr (+12x YoY). Launched D2C e-commerce.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3429000"/>
            <a:ext cx="26517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3429000"/>
            <a:ext cx="2651760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35040" y="34290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2025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08192" y="3813048"/>
            <a:ext cx="250545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Revenue: ₹1,210 Cr. 45K+ astrologers. Ecommerce arm hits ₹140 Cr. CFO hired for IPO.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HOW IT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USER JOURNEY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188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35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435608" y="1463040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74520"/>
            <a:ext cx="1554480" cy="1234440"/>
          </a:xfrm>
          <a:prstGeom prst="rect">
            <a:avLst/>
          </a:prstGeom>
          <a:solidFill>
            <a:srgbClr val="2A1D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Download &amp; Sign Up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iOS/Android/Web. Register via phone, email or social login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188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35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27248" y="1463040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1874520"/>
            <a:ext cx="1554480" cy="1234440"/>
          </a:xfrm>
          <a:prstGeom prst="rect">
            <a:avLst/>
          </a:prstGeom>
          <a:solidFill>
            <a:srgbClr val="2A1D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5740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Free First Session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5-min free consultation — 'First Chat Free' freemium hook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51960" y="1188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519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35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18888" y="1463040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1874520"/>
            <a:ext cx="1554480" cy="1234440"/>
          </a:xfrm>
          <a:prstGeom prst="rect">
            <a:avLst/>
          </a:prstGeom>
          <a:solidFill>
            <a:srgbClr val="2A1D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Choose Astrologer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Browse by specialty, rating, language, experience &amp; price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0" y="1188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35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10528" y="1463040"/>
            <a:ext cx="6400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40680" y="1874520"/>
            <a:ext cx="1554480" cy="1234440"/>
          </a:xfrm>
          <a:prstGeom prst="rect">
            <a:avLst/>
          </a:prstGeom>
          <a:solidFill>
            <a:srgbClr val="2A1D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Wallet Recharge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Top up wallet; pay per-minute (₹5–₹200/min)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35240" y="1188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35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035"/>
                </a:solidFill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32320" y="1874520"/>
            <a:ext cx="1554480" cy="1234440"/>
          </a:xfrm>
          <a:prstGeom prst="rect">
            <a:avLst/>
          </a:prstGeom>
          <a:solidFill>
            <a:srgbClr val="2A1D4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1920240"/>
            <a:ext cx="15544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CD34D"/>
                </a:solidFill>
              </a:rPr>
              <a:t>Consult &amp; Revisit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233172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Chat, audio, or video call. Repeat bookings; push notifications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ASTROLOGER ONBOARDING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65760" y="3611880"/>
            <a:ext cx="4114800" cy="219456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611880"/>
            <a:ext cx="3931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✓  Apply via AstroTalk Hiring app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858768"/>
            <a:ext cx="4114800" cy="219456"/>
          </a:xfrm>
          <a:prstGeom prst="rect">
            <a:avLst/>
          </a:prstGeom>
          <a:solidFill>
            <a:srgbClr val="1F164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58768"/>
            <a:ext cx="3931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✓  2-round interview (telephonic + video)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105656"/>
            <a:ext cx="4114800" cy="219456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05656"/>
            <a:ext cx="3931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✓  Background checks &amp; credential verification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352544"/>
            <a:ext cx="4114800" cy="219456"/>
          </a:xfrm>
          <a:prstGeom prst="rect">
            <a:avLst/>
          </a:prstGeom>
          <a:solidFill>
            <a:srgbClr val="1F164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352544"/>
            <a:ext cx="3931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✓  Live test &amp; ongoing quality audits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599432"/>
            <a:ext cx="4114800" cy="219456"/>
          </a:xfrm>
          <a:prstGeom prst="rect">
            <a:avLst/>
          </a:prstGeom>
          <a:solidFill>
            <a:srgbClr val="2A1D4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4599432"/>
            <a:ext cx="39319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✓  Set availability → Accept incoming consultations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246120"/>
            <a:ext cx="4114800" cy="1645920"/>
          </a:xfrm>
          <a:prstGeom prst="rect">
            <a:avLst/>
          </a:prstGeom>
          <a:solidFill>
            <a:srgbClr val="2A1D4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46320" y="3337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Platform Scale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46320" y="3703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45,000+  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52160" y="37033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Astrologers on platform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46320" y="39959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1M+  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852160" y="39959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Monthly active consultations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42885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60+  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852160" y="4288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Countries served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46320" y="45811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~100%  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852160" y="45811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F0FA"/>
                </a:solidFill>
              </a:rPr>
              <a:t>Call success rate (Agora-powered)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PLATFORM FEATURES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9601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Live Chat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307592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Instant text consultation with astrologers. Gamified trust via ratings &amp; reviews.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6868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9601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Voice/Video Calls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86200" y="1307592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Real-time audio &amp; video sessions. Privacy-first — audio default after pivot from video.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868680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868680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12280" y="96012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Free Kundli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12280" y="1307592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Auto-generated birth chart based on date, time &amp; place of birth. Instant &amp; accurate.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258568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258568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258568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🔴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60120" y="23500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Live Sessions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26974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Popular astrologers broadcast live. Users watch and engage — builds trust &amp; community.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46120" y="2258568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258568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258568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86200" y="23500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AstroMall / Store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86200" y="26974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D2C spiritual e-commerce — gemstones, healing stones, puja kits &amp; remedies.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2258568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258568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258568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812280" y="235000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Daily Horoscopes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2697480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Free daily, weekly, monthly &amp; yearly horoscopes for all zodiac signs.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3648456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648456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648456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💒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60120" y="37398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Kundli Matching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408736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Marriage compatibility analysis. 60% of revenue comes from marriage-related queries!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46120" y="3648456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46120" y="3648456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46120" y="3648456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86200" y="37398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AI Integration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886200" y="408736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AI-powered astrologer matching, instant Kundli generation &amp; faster chat responses.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72200" y="3648456"/>
            <a:ext cx="2788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72200" y="3648456"/>
            <a:ext cx="594360" cy="12618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648456"/>
            <a:ext cx="5943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812280" y="37398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Multi-language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4087368"/>
            <a:ext cx="20848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English, Hindi &amp; 10+ regional Indian languages. Supports NRI users globally.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REVENUE MODEL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1737360"/>
          </a:xfrm>
          <a:prstGeom prst="rect">
            <a:avLst/>
          </a:prstGeom>
          <a:solidFill>
            <a:srgbClr val="1E1040"/>
          </a:solidFill>
          <a:ln w="254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1005840" cy="17373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~90%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9601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💬  Pay-Per-Minute Consultations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Core business. Users recharge wallet &amp; pay ₹5–₹200/min to consult astrologers. AstroTalk takes 25–40% commission from astrologer earnings.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737360"/>
          </a:xfrm>
          <a:prstGeom prst="rect">
            <a:avLst/>
          </a:prstGeom>
          <a:solidFill>
            <a:srgbClr val="1E10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68680"/>
            <a:ext cx="1005840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0972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16459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share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96012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🛍️  D2C E-Commerce (AstroTalk Store)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Gemstones, yantras, puja kits, healing products. Launched Nov 2024 — already ₹140 Cr in 2025 with ₹200 Cr ARR. Target: 25–30% of total revenue.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4114800" cy="1737360"/>
          </a:xfrm>
          <a:prstGeom prst="rect">
            <a:avLst/>
          </a:prstGeom>
          <a:solidFill>
            <a:srgbClr val="1E10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788920"/>
            <a:ext cx="1005840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17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share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28803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📄  Paid Reports &amp; Kundli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17320" y="32918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Detailed horoscope, compatibility &amp; birth chart reports. Priced ₹200–₹2,000. AI-generated reports improve margins.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788920"/>
            <a:ext cx="4114800" cy="1737360"/>
          </a:xfrm>
          <a:prstGeom prst="rect">
            <a:avLst/>
          </a:prstGeom>
          <a:solidFill>
            <a:srgbClr val="1E1040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788920"/>
            <a:ext cx="1005840" cy="1737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01752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~2%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3566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F0FA"/>
                </a:solidFill>
              </a:rPr>
              <a:t>share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60720" y="288036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D34D"/>
                </a:solidFill>
              </a:rPr>
              <a:t>🎯  Subscriptions &amp; Coins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60720" y="32918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Monthly/annual premium tiers offering session discounts &amp; faster astrologer access. In-app coins for tips &amp; gifting.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Key insight: 60% of all consultation revenue stems from marriage &amp; relationship-related questions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FINANCIAL PERFORMANCE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8229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0040" y="3794760"/>
          <a:ext cx="5029200" cy="1097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5577840" y="8412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</a:rPr>
              <a:t>Key Metrics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577840" y="123444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577840" y="1280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150%+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577840" y="1618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Revenue CAGR (5yr)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7269480" y="1234440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7269480" y="128016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162%+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269480" y="1618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Profit CAGR (5yr)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577840" y="2039112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577840" y="2084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~20%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7784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EBITDA Margin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269480" y="2039112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7269480" y="208483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40.16%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26948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ROCE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5577840" y="2843784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577840" y="28895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₹121 Cr (+4.2X)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5577840" y="3227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Intl Revenue (FY24)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7269480" y="2843784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7269480" y="28895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₹600–900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7269480" y="322783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CAC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5577840" y="364845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5577840" y="3694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~3:1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577840" y="40325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LTV:CAC Ratio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269480" y="3648456"/>
            <a:ext cx="1600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7269480" y="36941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2D8E"/>
                </a:solidFill>
              </a:rPr>
              <a:t>6–8 months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7269480" y="40325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CAC Payback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5577840" y="4343400"/>
            <a:ext cx="3291840" cy="594360"/>
          </a:xfrm>
          <a:prstGeom prst="rect">
            <a:avLst/>
          </a:prstGeom>
          <a:solidFill>
            <a:srgbClr val="5B2D8E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5577840" y="434340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Spent Re 0.82 to earn ₹1 of revenue in FY24 → highly efficient unit economics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GROWTH &amp; MARKETING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697480" cy="135331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🎁  Freemium Hook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"First Chat Free" — 5-min free session reduces friction to try. Once users get value, conversion to paid is high.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97480" cy="135331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📱  Performance Marketing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1371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25% of revenue spent on Meta &amp; Google ads. Laser-targeted campaigns for high-intent users. Celebrity endorsements.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97480" cy="135331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2648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⭐  Trust Architecture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0" y="13716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5-step astrologer vetting, ratings, reviews &amp; ongoing audits. Trust is the core competitive moat.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395728"/>
            <a:ext cx="2697480" cy="135331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🔔  Retention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852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Push notifications, loyalty points, referral credits, personalized daily horoscopes. 25–30% repeat users.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2395728"/>
            <a:ext cx="2697480" cy="135331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9184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🗣️  Influencer &amp; Content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852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YouTube, Instagram, celebrity tie-ups. Trending topics like 'Mercury Retrograde' used for viral marketing.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2395728"/>
            <a:ext cx="2697480" cy="1353312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2468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🌐  SEO &amp; Organic Growth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2852928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Building organic search presence vs older competitors like AstroSage, AstroYogi. Next big growth engine.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User growth: 400K (2020) → 8M (2024) — a 20X jump driven by COVID tailwinds and aggressive digital marketing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COMPETITIVE LANDSCAPE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68680"/>
          <a:ext cx="850392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  <a:gridCol w="1234440"/>
                <a:gridCol w="1234440"/>
                <a:gridCol w="1325880"/>
                <a:gridCol w="123444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Platform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Market Share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Astrologers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Pay Model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E-commerce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Funding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03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D8E"/>
                          </a:solidFill>
                        </a:rPr>
                        <a:t>🏆 AstroTalk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D8E"/>
                          </a:solidFill>
                        </a:rPr>
                        <a:t>~80% online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D8E"/>
                          </a:solidFill>
                        </a:rPr>
                        <a:t>45,000+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D8E"/>
                          </a:solidFill>
                        </a:rPr>
                        <a:t>Per-minute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D8E"/>
                          </a:solidFill>
                        </a:rPr>
                        <a:t>Yes (₹140Cr)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5B2D8E"/>
                          </a:solidFill>
                        </a:rPr>
                        <a:t>$30.3M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AstroYogi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~8%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1,500+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Per-minute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Bootstrapped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InstaAstro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~5%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2,000+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Per-minute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Funded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AstroSage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~4%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500+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Report-based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Bootstrapped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GaneshaSpeaks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~3%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800+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Per-minute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</a:rPr>
                        <a:t>Bootstrapped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32918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</a:rPr>
              <a:t>AstroTalk's Competitive Advantages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7472" y="3694176"/>
            <a:ext cx="164592" cy="16459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675888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Largest verified astrologer network (45K+) — most choice &amp; specialization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47472" y="3941064"/>
            <a:ext cx="164592" cy="16459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392277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Strongest brand trust via 5-step vetting process and 50M+ downloads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7472" y="4187952"/>
            <a:ext cx="164592" cy="16459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416966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Data moat: years of user behaviour data for personalized recommendations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47472" y="4434840"/>
            <a:ext cx="164592" cy="16459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41655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Only platform with profitable D2C e-commerce vertical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7472" y="4681728"/>
            <a:ext cx="164592" cy="164592"/>
          </a:xfrm>
          <a:prstGeom prst="ellipse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466344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Highest ARPU from international markets (US, UK, Canada, Australia)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74920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035"/>
                </a:solidFill>
              </a:rPr>
              <a:t>Key Challenges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102352" y="3694176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21808" y="3675888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265+ competitors (13 funded); market is crowded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02352" y="3941064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21808" y="392277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InstaAstro filed CCI complaint for anticompetitive practices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102352" y="4187952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808" y="4169664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Astroyogi filed trademark infringement notice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102352" y="44348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321808" y="441655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High marketing spend (~25% of revenue) hard to reduce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02352" y="4681728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21808" y="466344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Quality control is subjective — astrologer consistency risk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FUTURE PLANS &amp; IPO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41248"/>
            <a:ext cx="841248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41248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035"/>
                </a:solidFill>
              </a:rPr>
              <a:t>🚀  IPO Target: H1 2026 — India's FIRST venture-funded astrology platform to go public. Target valuation: $1.3–1.5 Billion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51760" cy="13716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💰  Pre-IPO Fundraise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Raising $50M Series B at unicorn valuation. Led by Tier-1 VC/PE mix. Last private round before DRHP filing.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651760" cy="13716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🏪  Offline Expansion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Launching physical AstroTalk stores in Delhi-NCR region. Blending online + offline for premium customers.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35040" y="1691640"/>
            <a:ext cx="2651760" cy="13716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0" y="17647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🛒  E-Commerce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Triple product catalog by FY27. Target: ₹500 Cr ARR. Focus on Tier II/III markets (50% of future sales).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2651760" cy="13716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🌍  International Markets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Targeting US, Canada, UK, Europe &amp; Middle East. Localization + NRI community outreach. +4.2X intl revenue in FY24.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3200400"/>
            <a:ext cx="2651760" cy="13716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9184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📲  New Apps &amp; Products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Planning new app verticals beyond astrology — wellness, meditation, spiritual content subscriptions.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35040" y="3200400"/>
            <a:ext cx="2651760" cy="137160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32735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🤝  M&amp;A Strategy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0" y="36576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3F0FA"/>
                </a:solidFill>
              </a:rPr>
              <a:t>Strategic acquisitions in international markets. CFO (Deepak Khetan) leads IPO readiness &amp; governance.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CD34D"/>
                </a:solidFill>
              </a:rPr>
              <a:t>Revenue target before IPO: ₹2,000 Crore  |  Current ARR (Aug 2025): ₹1,600 Crore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1035"/>
          </a:solidFill>
          <a:ln w="12700">
            <a:solidFill>
              <a:srgbClr val="1A10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300" kern="0" dirty="0">
                <a:solidFill>
                  <a:srgbClr val="FFFFFF"/>
                </a:solidFill>
              </a:rPr>
              <a:t>SWOT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841248"/>
            <a:ext cx="4160520" cy="1938528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41248"/>
            <a:ext cx="4160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412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STRENGTHS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80% market share in India's online astrology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563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45,000+ verified astrologers — largest network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Strong unit economics: LTV:CAC = 3:1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167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Profitable since FY22; ₹250 Cr profit FY25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468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50M+ downloads, strong brand recall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841248"/>
            <a:ext cx="4160520" cy="1938528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41248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84124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WEAKNESSES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126187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High marketing dependency (25% of revenue)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563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Subjectivity in service quality — hard to standardize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00600" y="186537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Stigma around astrology limits word-of-mouth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00600" y="21671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FY25 net profit dipped 62% despite revenue growth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00600" y="24688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Heavy reliance on Meta/Google ad platforms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926080"/>
            <a:ext cx="4160520" cy="1938528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26080"/>
            <a:ext cx="416052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26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OPPORTUNITIES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1480" y="3346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Indian spiritual market: $150Bn by 2032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Global NRI community — high ARPU markets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11480" y="3950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D2C e-commerce barely scratched (₹140Cr in yr 1)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" y="4251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AI personalization &amp; predictive astrology features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553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SEO organic growth still largely untapped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926080"/>
            <a:ext cx="4160520" cy="193852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926080"/>
            <a:ext cx="4160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9260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THREATS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00600" y="334670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265+ competitors; potential new well-funded entrants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00600" y="3648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Regulatory risk — currently unregulated sector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9502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Ad platform algorithm changes can spike CAC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00600" y="42519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Legal challenges (CCI complaint, trademark cases)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4553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•  Consumer trust scandals could damage reputation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0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48563" y="927994"/>
            <a:ext cx="24618" cy="24618"/>
          </a:xfrm>
          <a:prstGeom prst="ellipse">
            <a:avLst/>
          </a:prstGeom>
          <a:solidFill>
            <a:srgbClr val="FCD34D">
              <a:alpha val="5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43784" y="1520904"/>
            <a:ext cx="42446" cy="42446"/>
          </a:xfrm>
          <a:prstGeom prst="ellipse">
            <a:avLst/>
          </a:prstGeom>
          <a:solidFill>
            <a:srgbClr val="FCD34D">
              <a:alpha val="53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31880" y="121936"/>
            <a:ext cx="35998" cy="35998"/>
          </a:xfrm>
          <a:prstGeom prst="ellipse">
            <a:avLst/>
          </a:prstGeom>
          <a:solidFill>
            <a:srgbClr val="FCD34D">
              <a:alpha val="7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8498" y="3795801"/>
            <a:ext cx="49930" cy="49930"/>
          </a:xfrm>
          <a:prstGeom prst="ellipse">
            <a:avLst/>
          </a:prstGeom>
          <a:solidFill>
            <a:srgbClr val="FCD34D">
              <a:alpha val="6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03992" y="2233262"/>
            <a:ext cx="54937" cy="54937"/>
          </a:xfrm>
          <a:prstGeom prst="ellipse">
            <a:avLst/>
          </a:prstGeom>
          <a:solidFill>
            <a:srgbClr val="FCD34D">
              <a:alpha val="3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3300" y="653870"/>
            <a:ext cx="60224" cy="60224"/>
          </a:xfrm>
          <a:prstGeom prst="ellipse">
            <a:avLst/>
          </a:prstGeom>
          <a:solidFill>
            <a:srgbClr val="FCD34D">
              <a:alpha val="7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20126" y="4866409"/>
            <a:ext cx="28186" cy="28186"/>
          </a:xfrm>
          <a:prstGeom prst="ellipse">
            <a:avLst/>
          </a:prstGeom>
          <a:solidFill>
            <a:srgbClr val="FCD34D">
              <a:alpha val="4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19344" y="3868932"/>
            <a:ext cx="55951" cy="55951"/>
          </a:xfrm>
          <a:prstGeom prst="ellipse">
            <a:avLst/>
          </a:prstGeom>
          <a:solidFill>
            <a:srgbClr val="FCD34D">
              <a:alpha val="8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24641" y="1037673"/>
            <a:ext cx="45315" cy="45315"/>
          </a:xfrm>
          <a:prstGeom prst="ellipse">
            <a:avLst/>
          </a:prstGeom>
          <a:solidFill>
            <a:srgbClr val="FCD34D">
              <a:alpha val="5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94255" y="4910005"/>
            <a:ext cx="36321" cy="36321"/>
          </a:xfrm>
          <a:prstGeom prst="ellipse">
            <a:avLst/>
          </a:prstGeom>
          <a:solidFill>
            <a:srgbClr val="FCD34D">
              <a:alpha val="6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03835" y="961885"/>
            <a:ext cx="53284" cy="53284"/>
          </a:xfrm>
          <a:prstGeom prst="ellipse">
            <a:avLst/>
          </a:prstGeom>
          <a:solidFill>
            <a:srgbClr val="FCD34D">
              <a:alpha val="73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7034" y="3936814"/>
            <a:ext cx="31395" cy="31395"/>
          </a:xfrm>
          <a:prstGeom prst="ellipse">
            <a:avLst/>
          </a:prstGeom>
          <a:solidFill>
            <a:srgbClr val="FCD34D">
              <a:alpha val="7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6130" y="1866626"/>
            <a:ext cx="63503" cy="63503"/>
          </a:xfrm>
          <a:prstGeom prst="ellipse">
            <a:avLst/>
          </a:prstGeom>
          <a:solidFill>
            <a:srgbClr val="FCD34D">
              <a:alpha val="77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44300" y="571981"/>
            <a:ext cx="27817" cy="27817"/>
          </a:xfrm>
          <a:prstGeom prst="ellipse">
            <a:avLst/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1178" y="4406367"/>
            <a:ext cx="45925" cy="45925"/>
          </a:xfrm>
          <a:prstGeom prst="ellipse">
            <a:avLst/>
          </a:prstGeom>
          <a:solidFill>
            <a:srgbClr val="FCD34D">
              <a:alpha val="7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35" y="3095127"/>
            <a:ext cx="37438" cy="37438"/>
          </a:xfrm>
          <a:prstGeom prst="ellipse">
            <a:avLst/>
          </a:prstGeom>
          <a:solidFill>
            <a:srgbClr val="FCD34D">
              <a:alpha val="8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3157" y="943858"/>
            <a:ext cx="47480" cy="47480"/>
          </a:xfrm>
          <a:prstGeom prst="ellipse">
            <a:avLst/>
          </a:prstGeom>
          <a:solidFill>
            <a:srgbClr val="FCD34D">
              <a:alpha val="9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35540" y="2945650"/>
            <a:ext cx="58455" cy="58455"/>
          </a:xfrm>
          <a:prstGeom prst="ellipse">
            <a:avLst/>
          </a:prstGeom>
          <a:solidFill>
            <a:srgbClr val="FCD34D">
              <a:alpha val="66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852341" y="3092197"/>
            <a:ext cx="60807" cy="60807"/>
          </a:xfrm>
          <a:prstGeom prst="ellipse">
            <a:avLst/>
          </a:prstGeom>
          <a:solidFill>
            <a:srgbClr val="FCD34D">
              <a:alpha val="41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9231" y="2534778"/>
            <a:ext cx="29502" cy="29502"/>
          </a:xfrm>
          <a:prstGeom prst="ellipse">
            <a:avLst/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4547" y="2158353"/>
            <a:ext cx="45162" cy="45162"/>
          </a:xfrm>
          <a:prstGeom prst="ellipse">
            <a:avLst/>
          </a:prstGeom>
          <a:solidFill>
            <a:srgbClr val="FCD34D">
              <a:alpha val="94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85540" y="1061778"/>
            <a:ext cx="36013" cy="36013"/>
          </a:xfrm>
          <a:prstGeom prst="ellipse">
            <a:avLst/>
          </a:prstGeom>
          <a:solidFill>
            <a:srgbClr val="FCD34D">
              <a:alpha val="4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61729" y="1242723"/>
            <a:ext cx="38006" cy="38006"/>
          </a:xfrm>
          <a:prstGeom prst="ellipse">
            <a:avLst/>
          </a:prstGeom>
          <a:solidFill>
            <a:srgbClr val="FCD34D">
              <a:alpha val="8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08205" y="3986206"/>
            <a:ext cx="39079" cy="39079"/>
          </a:xfrm>
          <a:prstGeom prst="ellipse">
            <a:avLst/>
          </a:prstGeom>
          <a:solidFill>
            <a:srgbClr val="FCD34D">
              <a:alpha val="4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95585" y="1351019"/>
            <a:ext cx="26405" cy="26405"/>
          </a:xfrm>
          <a:prstGeom prst="ellipse">
            <a:avLst/>
          </a:prstGeom>
          <a:solidFill>
            <a:srgbClr val="FCD34D">
              <a:alpha val="75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9045" y="4684511"/>
            <a:ext cx="42690" cy="42690"/>
          </a:xfrm>
          <a:prstGeom prst="ellipse">
            <a:avLst/>
          </a:prstGeom>
          <a:solidFill>
            <a:srgbClr val="FCD34D">
              <a:alpha val="6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72381" y="4589740"/>
            <a:ext cx="51348" cy="51348"/>
          </a:xfrm>
          <a:prstGeom prst="ellipse">
            <a:avLst/>
          </a:prstGeom>
          <a:solidFill>
            <a:srgbClr val="FCD34D">
              <a:alpha val="4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431" y="2747784"/>
            <a:ext cx="26875" cy="26875"/>
          </a:xfrm>
          <a:prstGeom prst="ellipse">
            <a:avLst/>
          </a:prstGeom>
          <a:solidFill>
            <a:srgbClr val="FCD34D">
              <a:alpha val="4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80286" y="4363846"/>
            <a:ext cx="25824" cy="25824"/>
          </a:xfrm>
          <a:prstGeom prst="ellipse">
            <a:avLst/>
          </a:prstGeom>
          <a:solidFill>
            <a:srgbClr val="FCD34D">
              <a:alpha val="81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00420" y="4728696"/>
            <a:ext cx="57480" cy="57480"/>
          </a:xfrm>
          <a:prstGeom prst="ellipse">
            <a:avLst/>
          </a:prstGeom>
          <a:solidFill>
            <a:srgbClr val="FCD34D">
              <a:alpha val="39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" y="274320"/>
            <a:ext cx="8503920" cy="1005840"/>
          </a:xfrm>
          <a:prstGeom prst="rect">
            <a:avLst/>
          </a:prstGeom>
          <a:solidFill>
            <a:srgbClr val="5B2D8E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500" kern="0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320040" y="77724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CD34D"/>
                </a:solidFill>
              </a:rPr>
              <a:t>What makes AstroTalk a landmark case study in Indian spiritual-tech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" y="1463040"/>
            <a:ext cx="8503920" cy="64008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1463040"/>
            <a:ext cx="594360" cy="6400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1463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0584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0FA"/>
                </a:solidFill>
              </a:rPr>
              <a:t>Timing + Trust = Explosive Growth  —  AstroTalk solved the #1 problem in astrology — trust — through rigorous vetting, then grew 20X during COVID when demand spiked.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2167128"/>
            <a:ext cx="8503920" cy="64008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20040" y="2167128"/>
            <a:ext cx="594360" cy="6400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2167128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" y="2167128"/>
            <a:ext cx="7680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0FA"/>
                </a:solidFill>
              </a:rPr>
              <a:t>Freemium is a Powerful Growth Engine  —  "First Chat Free" dramatically lowered acquisition barriers. Combined with a 3:1 LTV:CAC ratio, it built a self-sustaining growth loop.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2871216"/>
            <a:ext cx="8503920" cy="64008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20040" y="2871216"/>
            <a:ext cx="594360" cy="6400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2871216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05840" y="2871216"/>
            <a:ext cx="7680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0FA"/>
                </a:solidFill>
              </a:rPr>
              <a:t>Diversification Mitigates Risk  —  Expanding from consultations → D2C e-commerce → offline stores reduces over-dependence on one revenue stream.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20040" y="3575304"/>
            <a:ext cx="8503920" cy="64008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20040" y="3575304"/>
            <a:ext cx="594360" cy="6400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3575304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05840" y="3575304"/>
            <a:ext cx="7680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0FA"/>
                </a:solidFill>
              </a:rPr>
              <a:t>Profitable Growth Story  —  ₹250 Cr profit on ₹1,210 Cr revenue at age 8 — rare in Indian startups. The IPO path is validated by strong fundamentals.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0040" y="4279392"/>
            <a:ext cx="8503920" cy="640080"/>
          </a:xfrm>
          <a:prstGeom prst="rect">
            <a:avLst/>
          </a:prstGeom>
          <a:solidFill>
            <a:srgbClr val="1E1040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0040" y="4279392"/>
            <a:ext cx="594360" cy="6400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279392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1005840" y="4279392"/>
            <a:ext cx="768096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3F0FA"/>
                </a:solidFill>
              </a:rPr>
              <a:t>Platform Network Effects at Scale  —  45K+ astrologers and 50M+ users create compounding network effects — more astrologers attract more users and vice versa.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AstroTalk – Company Study</dc:title>
  <dc:subject>PptxGenJS Presentation</dc:subject>
  <dc:creator>PptxGenJS</dc:creator>
  <cp:lastModifiedBy>PptxGenJS</cp:lastModifiedBy>
  <cp:revision>1</cp:revision>
  <dcterms:created xsi:type="dcterms:W3CDTF">2026-03-25T10:22:58Z</dcterms:created>
  <dcterms:modified xsi:type="dcterms:W3CDTF">2026-03-25T10:22:58Z</dcterms:modified>
</cp:coreProperties>
</file>